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810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5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5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3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8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8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5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4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919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26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2755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16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92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1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96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b="1" dirty="0" smtClean="0"/>
              <a:t>PROJECT WORK TRACCIA 15.2 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7742382" cy="1913466"/>
          </a:xfrm>
        </p:spPr>
        <p:txBody>
          <a:bodyPr>
            <a:normAutofit/>
          </a:bodyPr>
          <a:lstStyle/>
          <a:p>
            <a:pPr algn="ctr"/>
            <a:r>
              <a:rPr sz="25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Corso</a:t>
            </a:r>
            <a:r>
              <a:rPr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5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Preparto</a:t>
            </a:r>
            <a:r>
              <a:rPr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Multidisciplinare</a:t>
            </a:r>
            <a:r>
              <a:rPr lang="it-IT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la promozione del benessere materno-fetale </a:t>
            </a:r>
          </a:p>
          <a:p>
            <a:r>
              <a:rPr lang="it-IT" dirty="0" err="1"/>
              <a:t>S</a:t>
            </a:r>
            <a:r>
              <a:rPr lang="it-IT" dirty="0" err="1" smtClean="0"/>
              <a:t>udentessa</a:t>
            </a:r>
            <a:r>
              <a:rPr lang="it-IT" dirty="0" smtClean="0"/>
              <a:t>: Veronica Timotei</a:t>
            </a:r>
          </a:p>
          <a:p>
            <a:r>
              <a:rPr lang="it-IT" dirty="0" smtClean="0"/>
              <a:t>Matricola: 0502202128</a:t>
            </a:r>
            <a:endParaRPr dirty="0"/>
          </a:p>
        </p:txBody>
      </p:sp>
      <p:pic>
        <p:nvPicPr>
          <p:cNvPr id="1026" name="Picture 2" descr="File:Università pegaso - logo (Italy, 2025).svg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788" y="533400"/>
            <a:ext cx="4251325" cy="1438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Introduzione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La </a:t>
            </a:r>
            <a:r>
              <a:rPr dirty="0" err="1"/>
              <a:t>gravidanza</a:t>
            </a:r>
            <a:r>
              <a:rPr dirty="0"/>
              <a:t> </a:t>
            </a:r>
            <a:r>
              <a:rPr dirty="0" err="1"/>
              <a:t>richiede</a:t>
            </a:r>
            <a:r>
              <a:rPr dirty="0"/>
              <a:t> un </a:t>
            </a:r>
            <a:r>
              <a:rPr dirty="0" err="1"/>
              <a:t>adeguato</a:t>
            </a:r>
            <a:r>
              <a:rPr dirty="0"/>
              <a:t> </a:t>
            </a:r>
            <a:r>
              <a:rPr dirty="0" err="1"/>
              <a:t>supporto</a:t>
            </a:r>
            <a:r>
              <a:rPr dirty="0"/>
              <a:t> </a:t>
            </a:r>
            <a:r>
              <a:rPr dirty="0" err="1"/>
              <a:t>informativo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Stili</a:t>
            </a:r>
            <a:r>
              <a:rPr dirty="0"/>
              <a:t> di vita </a:t>
            </a:r>
            <a:r>
              <a:rPr dirty="0" err="1"/>
              <a:t>sani</a:t>
            </a:r>
            <a:r>
              <a:rPr dirty="0"/>
              <a:t> </a:t>
            </a:r>
            <a:r>
              <a:rPr dirty="0" err="1"/>
              <a:t>riducono</a:t>
            </a:r>
            <a:r>
              <a:rPr dirty="0"/>
              <a:t> </a:t>
            </a:r>
            <a:r>
              <a:rPr dirty="0" err="1"/>
              <a:t>complicanze</a:t>
            </a:r>
            <a:r>
              <a:rPr dirty="0"/>
              <a:t> e </a:t>
            </a:r>
            <a:r>
              <a:rPr dirty="0" err="1"/>
              <a:t>favoriscono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benessere</a:t>
            </a:r>
            <a:r>
              <a:rPr dirty="0"/>
              <a:t>.</a:t>
            </a:r>
          </a:p>
          <a:p>
            <a:r>
              <a:rPr dirty="0"/>
              <a:t>• Il </a:t>
            </a:r>
            <a:r>
              <a:rPr dirty="0" err="1"/>
              <a:t>progetto</a:t>
            </a:r>
            <a:r>
              <a:rPr dirty="0"/>
              <a:t> propone un </a:t>
            </a:r>
            <a:r>
              <a:rPr dirty="0" err="1"/>
              <a:t>percorso</a:t>
            </a:r>
            <a:r>
              <a:rPr dirty="0"/>
              <a:t> </a:t>
            </a:r>
            <a:r>
              <a:rPr dirty="0" err="1"/>
              <a:t>educativo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e </a:t>
            </a:r>
            <a:r>
              <a:rPr dirty="0" err="1"/>
              <a:t>guidato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Situazione-Problema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Aumento sedentarietà e alimentazione non adeguata.</a:t>
            </a:r>
          </a:p>
          <a:p>
            <a:r>
              <a:t>• Crescita casi di diabete gestazionale e ipertensione.</a:t>
            </a:r>
          </a:p>
          <a:p>
            <a:r>
              <a:t>• Elevati livelli di stress psicofisico.</a:t>
            </a:r>
          </a:p>
          <a:p>
            <a:r>
              <a:t>• Necessità di un intervento strutturato e multidisciplinare.</a:t>
            </a:r>
          </a:p>
        </p:txBody>
      </p:sp>
      <p:pic>
        <p:nvPicPr>
          <p:cNvPr id="2050" name="Picture 2" descr="Gravidanza: Sintomi, Dieta, Test | P. by pazienti.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307" y="1403746"/>
            <a:ext cx="1888093" cy="1888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Struttura del Programma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Durata: 6 settimane.</a:t>
            </a:r>
          </a:p>
          <a:p>
            <a:r>
              <a:t>• Moduli: stile di vita, nutrizione, attività fisica, benessere.</a:t>
            </a:r>
          </a:p>
          <a:p>
            <a:r>
              <a:t>• Coinvolgimento di ostetrica, nutrizionista, istruttore, ginecologo.</a:t>
            </a:r>
          </a:p>
          <a:p>
            <a:r>
              <a:t>• Uso di questionari digitali per monitoraggio continuo.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Modulo 1 – Stile di Vita e Rischi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Educazione su abitudini salutari.</a:t>
            </a:r>
          </a:p>
          <a:p>
            <a:r>
              <a:t>• Rischi associati a fumo, alcol, stress e sedentarietà.</a:t>
            </a:r>
          </a:p>
          <a:p>
            <a:r>
              <a:t>• Benefici: prevenzione patologie e miglior benessere emotivo.</a:t>
            </a:r>
          </a:p>
        </p:txBody>
      </p:sp>
      <p:pic>
        <p:nvPicPr>
          <p:cNvPr id="3074" name="Picture 2" descr="Alimentazione in Gravidanz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635" y="3006036"/>
            <a:ext cx="2473325" cy="1653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Rischi in Gravidanza e Prevenzione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867305"/>
              </p:ext>
            </p:extLst>
          </p:nvPr>
        </p:nvGraphicFramePr>
        <p:xfrm>
          <a:off x="914400" y="1371600"/>
          <a:ext cx="7315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 err="1"/>
                        <a:t>Rischio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err="1"/>
                        <a:t>Prevenzione</a:t>
                      </a:r>
                      <a:endParaRPr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Diabete gestazionale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Controllo glicemico + dieta equilibrata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Ipertensione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Attività fisica leggera + riduzione sale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Tecniche respiratorie e mindfulness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Aumento eccessivo peso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Alimentazione</a:t>
                      </a:r>
                      <a:r>
                        <a:rPr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bilanciata</a:t>
                      </a:r>
                      <a:r>
                        <a:rPr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+ </a:t>
                      </a:r>
                      <a:r>
                        <a:rPr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movimento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Modulo 2 – Nutrizione in Gravidanza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Bilanciamento dei macronutrienti.</a:t>
            </a:r>
          </a:p>
          <a:p>
            <a:r>
              <a:t>• Importanza di acido folico, ferro e vitamina D.</a:t>
            </a:r>
          </a:p>
          <a:p>
            <a:r>
              <a:t>• Alimentazione frazionata in 5 pasti.</a:t>
            </a:r>
          </a:p>
          <a:p>
            <a:r>
              <a:t>• Evitare cibi crudi, alcol, e alimenti non pastorizzati.</a:t>
            </a:r>
          </a:p>
        </p:txBody>
      </p:sp>
      <p:sp>
        <p:nvSpPr>
          <p:cNvPr id="4" name="AutoShape 2" descr="Alimentazione in gravidanza: una guida essenziale per mangiare per due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AutoShape 4" descr="alimentazione in gravidanz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342" y="533400"/>
            <a:ext cx="2566875" cy="2090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Piano Alimentare Giornaliero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375436"/>
              </p:ext>
            </p:extLst>
          </p:nvPr>
        </p:nvGraphicFramePr>
        <p:xfrm>
          <a:off x="914400" y="84836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Pasto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err="1"/>
                        <a:t>Alimenti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Consigliati</a:t>
                      </a:r>
                      <a:endParaRPr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Yogurt + frutta + cereali integrali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Spuntino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Frutta secca o fresca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Pranzo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Carni magre/pesce + verdure + pasta integrale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Merenda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Estratto o yogurt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Minestrone + </a:t>
                      </a:r>
                      <a:r>
                        <a:rPr b="1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legumi</a:t>
                      </a:r>
                      <a:r>
                        <a:rPr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+ </a:t>
                      </a:r>
                      <a:r>
                        <a:rPr b="1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uova</a:t>
                      </a:r>
                      <a:r>
                        <a:rPr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due volte a </a:t>
                      </a:r>
                      <a:r>
                        <a:rPr b="1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settimana</a:t>
                      </a:r>
                      <a:endParaRPr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Modulo 3 – Attività Fisica Adattata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Camminata</a:t>
            </a:r>
            <a:r>
              <a:rPr dirty="0"/>
              <a:t> </a:t>
            </a:r>
            <a:r>
              <a:rPr dirty="0" err="1"/>
              <a:t>quotidiana</a:t>
            </a:r>
            <a:r>
              <a:rPr dirty="0"/>
              <a:t> (30 min).</a:t>
            </a:r>
          </a:p>
          <a:p>
            <a:r>
              <a:rPr dirty="0"/>
              <a:t>• </a:t>
            </a:r>
            <a:r>
              <a:rPr dirty="0" err="1"/>
              <a:t>Ginnastica</a:t>
            </a:r>
            <a:r>
              <a:rPr dirty="0"/>
              <a:t> dolce e </a:t>
            </a:r>
            <a:r>
              <a:rPr dirty="0" err="1"/>
              <a:t>mobilità</a:t>
            </a:r>
            <a:r>
              <a:rPr dirty="0"/>
              <a:t> </a:t>
            </a:r>
            <a:r>
              <a:rPr dirty="0" err="1"/>
              <a:t>articolare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Nuoto</a:t>
            </a:r>
            <a:r>
              <a:rPr dirty="0"/>
              <a:t> e </a:t>
            </a:r>
            <a:r>
              <a:rPr dirty="0" err="1"/>
              <a:t>acquaticità</a:t>
            </a:r>
            <a:r>
              <a:rPr dirty="0"/>
              <a:t>.</a:t>
            </a:r>
          </a:p>
          <a:p>
            <a:r>
              <a:rPr dirty="0"/>
              <a:t>• Yoga e </a:t>
            </a:r>
            <a:r>
              <a:rPr dirty="0" err="1"/>
              <a:t>respirazione</a:t>
            </a:r>
            <a:r>
              <a:rPr dirty="0"/>
              <a:t> per </a:t>
            </a:r>
            <a:r>
              <a:rPr dirty="0" err="1"/>
              <a:t>preparazione</a:t>
            </a:r>
            <a:r>
              <a:rPr dirty="0"/>
              <a:t> al </a:t>
            </a:r>
            <a:r>
              <a:rPr dirty="0" err="1"/>
              <a:t>parto</a:t>
            </a:r>
            <a:r>
              <a:rPr dirty="0"/>
              <a:t>.</a:t>
            </a:r>
          </a:p>
        </p:txBody>
      </p:sp>
      <p:pic>
        <p:nvPicPr>
          <p:cNvPr id="5122" name="Picture 2" descr="Benefici dello sport in gravidanza - Farmacia Assarott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5144407" y="338670"/>
            <a:ext cx="3689562" cy="246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Attività Pratiche e Benefici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Pavimento pelvico: prevenzione incontinenza.</a:t>
            </a:r>
          </a:p>
          <a:p>
            <a:r>
              <a:t>• Stretching: riduzione dolori lombari.</a:t>
            </a:r>
          </a:p>
          <a:p>
            <a:r>
              <a:t>• Respirazione: gestione dolore durante travaglio.</a:t>
            </a:r>
          </a:p>
          <a:p>
            <a:r>
              <a:t>• Attività creative: riduzione stress e ansia.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Collaborazioni Professionali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Ostetrica: guida principale del percorso.</a:t>
            </a:r>
          </a:p>
          <a:p>
            <a:r>
              <a:t>• Ginecologo: monitoraggio clinico.</a:t>
            </a:r>
          </a:p>
          <a:p>
            <a:r>
              <a:t>• Nutrizionista: piano alimentare.</a:t>
            </a:r>
          </a:p>
          <a:p>
            <a:r>
              <a:t>• Istruttore sportivo: esercizi sicuri e adattati.</a:t>
            </a:r>
          </a:p>
          <a:p>
            <a:r>
              <a:t>• Psicologo: supporto emotivo.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Questionario di Valutazione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1. Come valuti il tuo livello di energia?</a:t>
            </a:r>
          </a:p>
          <a:p>
            <a:r>
              <a:t>2. Segui un piano alimentare?</a:t>
            </a:r>
          </a:p>
          <a:p>
            <a:r>
              <a:t>3. Quante ore dormi?</a:t>
            </a:r>
          </a:p>
          <a:p>
            <a:r>
              <a:t>4. Fai attività fisica?</a:t>
            </a:r>
          </a:p>
          <a:p>
            <a:r>
              <a:t>5. Ti senti stressata?</a:t>
            </a:r>
          </a:p>
          <a:p>
            <a:r>
              <a:t>6. Conosci i rischi alimentari?</a:t>
            </a:r>
          </a:p>
          <a:p>
            <a:r>
              <a:t>7. Bevi abbastanza acqua?</a:t>
            </a:r>
          </a:p>
          <a:p>
            <a:r>
              <a:t>8. Usi strumenti digitali?</a:t>
            </a:r>
          </a:p>
          <a:p>
            <a:r>
              <a:t>9. Hai dolori o tensioni?</a:t>
            </a:r>
          </a:p>
          <a:p>
            <a:r>
              <a:t>10. Hai dubbi da approfondire?</a:t>
            </a:r>
          </a:p>
        </p:txBody>
      </p:sp>
      <p:pic>
        <p:nvPicPr>
          <p:cNvPr id="7170" name="Picture 2" descr="Questionario Specializzazioni, risponde un iscritto su 3 – Fondazione Enpam  | Ente Nazionale di Previdenza ed Assistenza dei Medici e degli Odontoiatr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233" y="1393371"/>
            <a:ext cx="2142556" cy="24275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 smtClean="0"/>
              <a:t>Conclusioni</a:t>
            </a:r>
            <a:r>
              <a:rPr lang="it-IT" dirty="0"/>
              <a:t/>
            </a:r>
            <a:br>
              <a:rPr lang="it-IT" dirty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/>
              <a:t/>
            </a:r>
            <a:br>
              <a:rPr lang="it-IT" dirty="0"/>
            </a:br>
            <a:r>
              <a:rPr lang="it-IT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GRAZIE PER L’ATTENZIONE!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Il </a:t>
            </a:r>
            <a:r>
              <a:rPr dirty="0" err="1"/>
              <a:t>percorso</a:t>
            </a:r>
            <a:r>
              <a:rPr dirty="0"/>
              <a:t> </a:t>
            </a:r>
            <a:r>
              <a:rPr dirty="0" err="1"/>
              <a:t>fornisce</a:t>
            </a:r>
            <a:r>
              <a:rPr dirty="0"/>
              <a:t> </a:t>
            </a:r>
            <a:r>
              <a:rPr dirty="0" err="1"/>
              <a:t>supporto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Favorisce</a:t>
            </a:r>
            <a:r>
              <a:rPr dirty="0"/>
              <a:t> </a:t>
            </a:r>
            <a:r>
              <a:rPr dirty="0" err="1"/>
              <a:t>benessere</a:t>
            </a:r>
            <a:r>
              <a:rPr dirty="0"/>
              <a:t> </a:t>
            </a:r>
            <a:r>
              <a:rPr dirty="0" err="1"/>
              <a:t>materno</a:t>
            </a:r>
            <a:r>
              <a:rPr dirty="0"/>
              <a:t> e </a:t>
            </a:r>
            <a:r>
              <a:rPr dirty="0" err="1"/>
              <a:t>sviluppo</a:t>
            </a:r>
            <a:r>
              <a:rPr dirty="0"/>
              <a:t> </a:t>
            </a:r>
            <a:r>
              <a:rPr dirty="0" err="1"/>
              <a:t>fetale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Promuove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gravidanza</a:t>
            </a:r>
            <a:r>
              <a:rPr dirty="0"/>
              <a:t> </a:t>
            </a:r>
            <a:r>
              <a:rPr dirty="0" err="1"/>
              <a:t>sicura</a:t>
            </a:r>
            <a:r>
              <a:rPr dirty="0"/>
              <a:t>, </a:t>
            </a:r>
            <a:r>
              <a:rPr dirty="0" err="1"/>
              <a:t>consapevole</a:t>
            </a:r>
            <a:r>
              <a:rPr dirty="0"/>
              <a:t> e </a:t>
            </a:r>
            <a:r>
              <a:rPr dirty="0" err="1"/>
              <a:t>attiva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zione">
  <a:themeElements>
    <a:clrScheme name="Personalizzato 20">
      <a:dk1>
        <a:srgbClr val="F3ABD3"/>
      </a:dk1>
      <a:lt1>
        <a:sysClr val="window" lastClr="FFFFFF"/>
      </a:lt1>
      <a:dk2>
        <a:srgbClr val="F3ABD3"/>
      </a:dk2>
      <a:lt2>
        <a:srgbClr val="D8D9DC"/>
      </a:lt2>
      <a:accent1>
        <a:srgbClr val="E32D91"/>
      </a:accent1>
      <a:accent2>
        <a:srgbClr val="C830CC"/>
      </a:accent2>
      <a:accent3>
        <a:srgbClr val="E933F7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Personalizzato 1">
      <a:majorFont>
        <a:latin typeface="Garamond"/>
        <a:ea typeface=""/>
        <a:cs typeface=""/>
      </a:majorFont>
      <a:minorFont>
        <a:latin typeface="Times New Roman"/>
        <a:ea typeface=""/>
        <a:cs typeface=""/>
      </a:minorFont>
    </a:fontScheme>
    <a:fmtScheme name="Sezion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</TotalTime>
  <Words>484</Words>
  <Application>Microsoft Office PowerPoint</Application>
  <PresentationFormat>Presentazione su schermo (4:3)</PresentationFormat>
  <Paragraphs>82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Garamond</vt:lpstr>
      <vt:lpstr>Times New Roman</vt:lpstr>
      <vt:lpstr>Wingdings 3</vt:lpstr>
      <vt:lpstr>Sezione</vt:lpstr>
      <vt:lpstr>PROJECT WORK TRACCIA 15.2 </vt:lpstr>
      <vt:lpstr>Introduzione</vt:lpstr>
      <vt:lpstr>Situazione-Problema</vt:lpstr>
      <vt:lpstr>Struttura del Programma</vt:lpstr>
      <vt:lpstr>Modulo 1 – Stile di Vita e Rischi</vt:lpstr>
      <vt:lpstr>Rischi in Gravidanza e Prevenzione</vt:lpstr>
      <vt:lpstr>Modulo 2 – Nutrizione in Gravidanza</vt:lpstr>
      <vt:lpstr>Esempio Piano Alimentare Giornaliero</vt:lpstr>
      <vt:lpstr>Modulo 3 – Attività Fisica Adattata</vt:lpstr>
      <vt:lpstr>Attività Pratiche e Benefici</vt:lpstr>
      <vt:lpstr>Collaborazioni Professionali</vt:lpstr>
      <vt:lpstr>Questionario di Valutazione</vt:lpstr>
      <vt:lpstr>Conclusioni   GRAZIE PER L’ATTENZIONE!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TRACCIA 15.2</dc:title>
  <dc:subject/>
  <dc:creator>NB01</dc:creator>
  <cp:keywords/>
  <dc:description>generated using python-pptx</dc:description>
  <cp:lastModifiedBy>NB01</cp:lastModifiedBy>
  <cp:revision>5</cp:revision>
  <dcterms:created xsi:type="dcterms:W3CDTF">2013-01-27T09:14:16Z</dcterms:created>
  <dcterms:modified xsi:type="dcterms:W3CDTF">2025-11-14T16:56:28Z</dcterms:modified>
  <cp:category/>
</cp:coreProperties>
</file>